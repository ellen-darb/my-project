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6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4181F"/>
                </a:solidFill>
              </a:defRPr>
            </a:pPr>
            <a:r>
              <a:t>Советник диспетчера для Линии 1</a:t>
            </a:r>
          </a:p>
          <a:p>
            <a:pPr>
              <a:defRPr sz="1600">
                <a:solidFill>
                  <a:srgbClr val="667085"/>
                </a:solidFill>
              </a:defRPr>
            </a:pPr>
            <a:r>
              <a:t>Хакатон «Сириус» × ГУП «Петербургский метрополитен». Вектор 2: насыщенность линии составами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>
                <a:solidFill>
                  <a:srgbClr val="14181F"/>
                </a:solidFill>
              </a:defRPr>
            </a:pPr>
            <a:r>
              <a:t>График работает, но в конкретный момент его нужно скорректировать. Система говорит когда, на сколько составов и что это даст.</a:t>
            </a:r>
          </a:p>
          <a:p>
            <a:pPr>
              <a:spcAft>
                <a:spcPts val="800"/>
              </a:spcAft>
              <a:defRPr sz="2400">
                <a:solidFill>
                  <a:srgbClr val="14181F"/>
                </a:solidFill>
              </a:defRPr>
            </a:pPr>
            <a:r>
              <a:t>Прогноз потока за 30–120 минут, ограничения линии учтены, решение остаётся за диспетчером.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6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4181F"/>
                </a:solidFill>
              </a:defRPr>
            </a:pPr>
            <a:r>
              <a:t>Линия работает у предела, а в межпик возит воздух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3566160" cy="17373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288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>
                <a:solidFill>
                  <a:srgbClr val="D62E2E"/>
                </a:solidFill>
              </a:defRPr>
            </a:pPr>
            <a:r>
              <a:t>30 из 31,9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667085"/>
                </a:solidFill>
              </a:defRPr>
            </a:pPr>
            <a:r>
              <a:t>пар в час в пик по графику. Интервал не меньше 1:53, оборот 99 минут, до 53 составов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737360"/>
            <a:ext cx="3566160" cy="17373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>
                <a:solidFill>
                  <a:srgbClr val="D62E2E"/>
                </a:solidFill>
              </a:defRPr>
            </a:pPr>
            <a:r>
              <a:t>15–20 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606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667085"/>
                </a:solidFill>
              </a:defRPr>
            </a:pPr>
            <a:r>
              <a:t>выходит резерв на линию: 4 состава по 2 в депо Автово и Северное. Решать надо заранее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737360"/>
            <a:ext cx="3566160" cy="17373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>
                <a:solidFill>
                  <a:srgbClr val="D62E2E"/>
                </a:solidFill>
              </a:defRPr>
            </a:pPr>
            <a:r>
              <a:t>&lt; 40% нормы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606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667085"/>
                </a:solidFill>
              </a:defRPr>
            </a:pPr>
            <a:r>
              <a:t>загрузка вагона в части межпиковых слотов по модели. Норма 120 человек на вагон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4181F"/>
                </a:solidFill>
              </a:defRPr>
            </a:pPr>
            <a:r>
              <a:t>Сегодня у диспетчера нет прогноза. Он видит, что поток вырос, когда резерв уже не успевает выйти.</a:t>
            </a:r>
          </a:p>
          <a:p>
            <a:pPr>
              <a:spcAft>
                <a:spcPts val="800"/>
              </a:spcAft>
              <a:defRPr sz="2200">
                <a:solidFill>
                  <a:srgbClr val="14181F"/>
                </a:solidFill>
              </a:defRPr>
            </a:pPr>
            <a:r>
              <a:t>Нужен ответ на вопрос «что сделать и когда», а не ещё один график потока.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6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4181F"/>
                </a:solidFill>
              </a:defRPr>
            </a:pPr>
            <a:r>
              <a:t>Как это работает</a:t>
            </a:r>
          </a:p>
          <a:p>
            <a:pPr>
              <a:defRPr sz="1600">
                <a:solidFill>
                  <a:srgbClr val="667085"/>
                </a:solidFill>
              </a:defRPr>
            </a:pPr>
            <a:r>
              <a:t>Пять шагов из ТЗ, на реальных данных Линии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4181F"/>
                </a:solidFill>
              </a:defRPr>
            </a:pPr>
            <a:r>
              <a:t>1. Сбор: входы турникетов по 19 станциям, 120 дней 2026 года, шаг 15 минут, календарь дня.</a:t>
            </a:r>
          </a:p>
          <a:p>
            <a:pPr>
              <a:spcAft>
                <a:spcPts val="800"/>
              </a:spcAft>
              <a:defRPr sz="2000">
                <a:solidFill>
                  <a:srgbClr val="14181F"/>
                </a:solidFill>
              </a:defRPr>
            </a:pPr>
            <a:r>
              <a:t>2. Прогноз на 15–120 минут по станциям и метка «типичный / аномальный день» против нормы для такого дня.</a:t>
            </a:r>
          </a:p>
          <a:p>
            <a:pPr>
              <a:spcAft>
                <a:spcPts val="800"/>
              </a:spcAft>
              <a:defRPr sz="2000">
                <a:solidFill>
                  <a:srgbClr val="14181F"/>
                </a:solidFill>
              </a:defRPr>
            </a:pPr>
            <a:r>
              <a:t>3. Оценка достаточности: входы превращаются в загрузку самого нагруженного перегона, сравнение с нормой 120 чел/вагон.</a:t>
            </a:r>
          </a:p>
          <a:p>
            <a:pPr>
              <a:spcAft>
                <a:spcPts val="800"/>
              </a:spcAft>
              <a:defRPr sz="2000">
                <a:solidFill>
                  <a:srgbClr val="14181F"/>
                </a:solidFill>
              </a:defRPr>
            </a:pPr>
            <a:r>
              <a:t>4. Коррекция: добавить или снять составы в рамках интервала 1:53, 53 составов, резерва и 30-минутного упреждения. Если интервал исчерпан, назвать станции для ограничения входа.</a:t>
            </a:r>
          </a:p>
          <a:p>
            <a:pPr>
              <a:spcAft>
                <a:spcPts val="800"/>
              </a:spcAft>
              <a:defRPr sz="2000">
                <a:solidFill>
                  <a:srgbClr val="14181F"/>
                </a:solidFill>
              </a:defRPr>
            </a:pPr>
            <a:r>
              <a:t>5. Оценка эффекта: загрузка с рекомендацией и без неё, поездо-часы.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6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4181F"/>
                </a:solidFill>
              </a:defRPr>
            </a:pPr>
            <a:r>
              <a:t>Демо: утренний пик, нужен ещё состав</a:t>
            </a:r>
          </a:p>
          <a:p>
            <a:pPr>
              <a:defRPr sz="1600">
                <a:solidFill>
                  <a:srgbClr val="667085"/>
                </a:solidFill>
              </a:defRPr>
            </a:pPr>
            <a:r>
              <a:t>03.02.2026, 07:30. Система предлагает решение за 30 минут до слота</a:t>
            </a:r>
          </a:p>
        </p:txBody>
      </p:sp>
      <p:pic>
        <p:nvPicPr>
          <p:cNvPr id="4" name="Picture 3" descr="a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881360" cy="4930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6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4181F"/>
                </a:solidFill>
              </a:defRPr>
            </a:pPr>
            <a:r>
              <a:t>Демо: аномальный день, но график справляется</a:t>
            </a:r>
          </a:p>
          <a:p>
            <a:pPr>
              <a:defRPr sz="1600">
                <a:solidFill>
                  <a:srgbClr val="667085"/>
                </a:solidFill>
              </a:defRPr>
            </a:pPr>
            <a:r>
              <a:t>08.05.2026, пятница перед праздниками, поток +38% к норме дня</a:t>
            </a:r>
          </a:p>
        </p:txBody>
      </p:sp>
      <p:pic>
        <p:nvPicPr>
          <p:cNvPr id="4" name="Picture 3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881360" cy="4930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6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4181F"/>
                </a:solidFill>
              </a:defRPr>
            </a:pPr>
            <a:r>
              <a:t>Демо: недогруз, можно снять составы</a:t>
            </a:r>
          </a:p>
          <a:p>
            <a:pPr>
              <a:defRPr sz="1600">
                <a:solidFill>
                  <a:srgbClr val="667085"/>
                </a:solidFill>
              </a:defRPr>
            </a:pPr>
            <a:r>
              <a:t>03.02.2026, 12:00. Загрузка после снятия остаётся в пределах нормы</a:t>
            </a:r>
          </a:p>
        </p:txBody>
      </p:sp>
      <p:pic>
        <p:nvPicPr>
          <p:cNvPr id="4" name="Picture 3" descr="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10881360" cy="4930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6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4181F"/>
                </a:solidFill>
              </a:defRPr>
            </a:pPr>
            <a:r>
              <a:t>Проверка на истории</a:t>
            </a:r>
          </a:p>
          <a:p>
            <a:pPr>
              <a:defRPr sz="1600">
                <a:solidFill>
                  <a:srgbClr val="667085"/>
                </a:solidFill>
              </a:defRPr>
            </a:pPr>
            <a:r>
              <a:t>83 будних дня, каждый месяц проверялся моделью, которая его не видела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37360"/>
            <a:ext cx="3566160" cy="17373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8288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>
                <a:solidFill>
                  <a:srgbClr val="D62E2E"/>
                </a:solidFill>
              </a:defRPr>
            </a:pPr>
            <a:r>
              <a:t>13 из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606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667085"/>
                </a:solidFill>
              </a:defRPr>
            </a:pPr>
            <a:r>
              <a:t>перегрузов предсказано за 30 минут. Реактивный порог без прогноза: 0 из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737360"/>
            <a:ext cx="3566160" cy="17373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>
                <a:solidFill>
                  <a:srgbClr val="D62E2E"/>
                </a:solidFill>
              </a:defRPr>
            </a:pPr>
            <a:r>
              <a:t>14 →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2606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667085"/>
                </a:solidFill>
              </a:defRPr>
            </a:pPr>
            <a:r>
              <a:t>интервалов выше нормы, −54% пассажиров сверх нормы вагона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737360"/>
            <a:ext cx="3566160" cy="173736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82880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400">
                <a:solidFill>
                  <a:srgbClr val="D62E2E"/>
                </a:solidFill>
              </a:defRPr>
            </a:pPr>
            <a:r>
              <a:t>4.0%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606039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667085"/>
                </a:solidFill>
              </a:defRPr>
            </a:pPr>
            <a:r>
              <a:t>ошибка прогноза потока линии на 30 минут, у нормы дня 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3192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4181F"/>
                </a:solidFill>
              </a:defRPr>
            </a:pPr>
            <a:r>
              <a:t>На недогрузе можно не выпускать около 37 поездо-часов в сутки (5.8% плана), ни разу вагон не превысил 95% нормы.</a:t>
            </a:r>
          </a:p>
          <a:p>
            <a:pPr>
              <a:spcAft>
                <a:spcPts val="800"/>
              </a:spcAft>
              <a:defRPr sz="1800">
                <a:solidFill>
                  <a:srgbClr val="14181F"/>
                </a:solidFill>
              </a:defRPr>
            </a:pPr>
            <a:r>
              <a:t>Загрузка вагона оценена моделью. При другой калибровке число перегрузов от 0 до 139, но прогноз ловит 93–99% из них, реактивный порог не больше 15%.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6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4181F"/>
                </a:solidFill>
              </a:defRPr>
            </a:pPr>
            <a:r>
              <a:t>Эффект и экономика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4181F"/>
                </a:solidFill>
              </a:defRPr>
            </a:pPr>
            <a:r>
              <a:t>Экономия = 37 поездо-ч в сутки × 250 рабочих дней × стоимость поездо-часа. Каждые 1000 ₽ за поездо-час дают около 9,4 млн ₽ в год на одной линии. Стоимость поездо-часа подставит метрополитен.</a:t>
            </a:r>
          </a:p>
          <a:p>
            <a:pPr>
              <a:spcAft>
                <a:spcPts val="800"/>
              </a:spcAft>
              <a:defRPr sz="2000">
                <a:solidFill>
                  <a:srgbClr val="14181F"/>
                </a:solidFill>
              </a:defRPr>
            </a:pPr>
            <a:r>
              <a:t>Затраты: вычисления на одном процессоре, обучение несколько минут, расчёт рекомендации миллисекунды, платных внешних API нет. Данные те же выгрузки турникетов, что уже ведутся.</a:t>
            </a:r>
          </a:p>
          <a:p>
            <a:pPr>
              <a:spcAft>
                <a:spcPts val="800"/>
              </a:spcAft>
              <a:defRPr sz="2000">
                <a:solidFill>
                  <a:srgbClr val="14181F"/>
                </a:solidFill>
              </a:defRPr>
            </a:pPr>
            <a:r>
              <a:t>Цена ложного сигнала «добавить»: около 0,4 поездо-часа в сутки. Решение принимает диспетчер.</a:t>
            </a:r>
          </a:p>
          <a:p>
            <a:pPr>
              <a:spcAft>
                <a:spcPts val="800"/>
              </a:spcAft>
              <a:defRPr sz="2000">
                <a:solidFill>
                  <a:srgbClr val="14181F"/>
                </a:solidFill>
              </a:defRPr>
            </a:pPr>
            <a:r>
              <a:t>Ценность по перегрузу вырастет на аномальных днях (погода, матч, сбой наземного транспорта). В выданных данных погоды и мероприятий нет.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6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4181F"/>
                </a:solidFill>
              </a:defRPr>
            </a:pPr>
            <a:r>
              <a:t>Внедрение и 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4181F"/>
                </a:solidFill>
              </a:defRPr>
            </a:pPr>
            <a:r>
              <a:t>Внедрение</a:t>
            </a:r>
          </a:p>
          <a:p>
            <a:pPr>
              <a:spcAft>
                <a:spcPts val="800"/>
              </a:spcAft>
              <a:defRPr sz="1800">
                <a:solidFill>
                  <a:srgbClr val="14181F"/>
                </a:solidFill>
              </a:defRPr>
            </a:pPr>
            <a:r>
              <a:t>1. Теневой режим 4 недели: рекомендации сравниваем с решениями диспетчера.</a:t>
            </a:r>
          </a:p>
          <a:p>
            <a:pPr>
              <a:spcAft>
                <a:spcPts val="800"/>
              </a:spcAft>
              <a:defRPr sz="1800">
                <a:solidFill>
                  <a:srgbClr val="14181F"/>
                </a:solidFill>
              </a:defRPr>
            </a:pPr>
            <a:r>
              <a:t>2. Показ диспетчеру 4 недели, метрики: доля принятых рекомендаций, интервалы выше нормы, поездо-часы.</a:t>
            </a:r>
          </a:p>
          <a:p>
            <a:pPr>
              <a:spcAft>
                <a:spcPts val="800"/>
              </a:spcAft>
              <a:defRPr sz="1800">
                <a:solidFill>
                  <a:srgbClr val="14181F"/>
                </a:solidFill>
              </a:defRPr>
            </a:pPr>
            <a:r>
              <a:t>3. Подключение погоды и календаря мероприятий.</a:t>
            </a:r>
          </a:p>
          <a:p>
            <a:pPr>
              <a:spcAft>
                <a:spcPts val="800"/>
              </a:spcAft>
              <a:defRPr sz="1800">
                <a:solidFill>
                  <a:srgbClr val="14181F"/>
                </a:solidFill>
              </a:defRPr>
            </a:pPr>
            <a:r>
              <a:t>4. Другие линии: те же входные данные.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4630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4181F"/>
                </a:solidFill>
              </a:defRPr>
            </a:pPr>
            <a:r>
              <a:t>Риски и меры</a:t>
            </a:r>
          </a:p>
          <a:p>
            <a:pPr>
              <a:spcAft>
                <a:spcPts val="800"/>
              </a:spcAft>
              <a:defRPr sz="1800">
                <a:solidFill>
                  <a:srgbClr val="14181F"/>
                </a:solidFill>
              </a:defRPr>
            </a:pPr>
            <a:r>
              <a:t>Загрузка вагонов оценочная: калибровка по датчикам РПДП, до неё сигнал заранее при 90% нормы.</a:t>
            </a:r>
          </a:p>
          <a:p>
            <a:pPr>
              <a:spcAft>
                <a:spcPts val="800"/>
              </a:spcAft>
              <a:defRPr sz="1800">
                <a:solidFill>
                  <a:srgbClr val="14181F"/>
                </a:solidFill>
              </a:defRPr>
            </a:pPr>
            <a:r>
              <a:t>Предел линии 1:53: система показывает, когда добавлять нельзя, и называет станции для ограничения входа.</a:t>
            </a:r>
          </a:p>
          <a:p>
            <a:pPr>
              <a:spcAft>
                <a:spcPts val="800"/>
              </a:spcAft>
              <a:defRPr sz="1800">
                <a:solidFill>
                  <a:srgbClr val="14181F"/>
                </a:solidFill>
              </a:defRPr>
            </a:pPr>
            <a:r>
              <a:t>Выходные не оценивались: плановая парность выходных не передана.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6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4181F"/>
                </a:solidFill>
              </a:defRPr>
            </a:pPr>
            <a:r>
              <a:t>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4181F"/>
                </a:solidFill>
              </a:defRPr>
            </a:pPr>
            <a:r>
              <a:t>Калибровка по весовым датчикам и фактическим решениям диспетчера.</a:t>
            </a:r>
          </a:p>
          <a:p>
            <a:pPr>
              <a:spcAft>
                <a:spcPts val="800"/>
              </a:spcAft>
              <a:defRPr sz="2200">
                <a:solidFill>
                  <a:srgbClr val="14181F"/>
                </a:solidFill>
              </a:defRPr>
            </a:pPr>
            <a:r>
              <a:t>Погода и мероприятия как признаки прогноза.</a:t>
            </a:r>
          </a:p>
          <a:p>
            <a:pPr>
              <a:spcAft>
                <a:spcPts val="800"/>
              </a:spcAft>
              <a:defRPr sz="2200">
                <a:solidFill>
                  <a:srgbClr val="14181F"/>
                </a:solidFill>
              </a:defRPr>
            </a:pPr>
            <a:r>
              <a:t>Оценка выходных после передачи графика. Разбор инцидента 31.08 на Чернышевской после выгрузки данных за август.</a:t>
            </a:r>
          </a:p>
          <a:p>
            <a:pPr>
              <a:spcAft>
                <a:spcPts val="800"/>
              </a:spcAft>
              <a:defRPr sz="2200">
                <a:solidFill>
                  <a:srgbClr val="14181F"/>
                </a:solidFill>
              </a:defRPr>
            </a:pPr>
            <a:r>
              <a:t>Интеграция в рабочее место диспетчера.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